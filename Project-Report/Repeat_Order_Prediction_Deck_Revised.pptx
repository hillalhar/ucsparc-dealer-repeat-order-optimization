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D42"/>
    <a:srgbClr val="44465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5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4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Komposisi Pelanggan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6C-4F27-81C0-CEA1E2A34B15}"/>
              </c:ext>
            </c:extLst>
          </c:dPt>
          <c:dPt>
            <c:idx val="1"/>
            <c:bubble3D val="0"/>
            <c:spPr>
              <a:solidFill>
                <a:srgbClr val="1F7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6C-4F27-81C0-CEA1E2A34B15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6C-4F27-81C0-CEA1E2A34B15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6C-4F27-81C0-CEA1E2A34B1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One-Time Buyer</c:v>
                </c:pt>
                <c:pt idx="1">
                  <c:v>Repeat Order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87.06</c:v>
                </c:pt>
                <c:pt idx="1">
                  <c:v>12.94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C-4F27-81C0-CEA1E2A34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D4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Order Rate</c:v>
                </c:pt>
              </c:strCache>
            </c:strRef>
          </c:tx>
          <c:spPr>
            <a:solidFill>
              <a:srgbClr val="D8DEE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DB-4B8F-9EA2-1E7A12798E6E}"/>
              </c:ext>
            </c:extLst>
          </c:dPt>
          <c:dPt>
            <c:idx val="1"/>
            <c:invertIfNegative val="0"/>
            <c:bubble3D val="0"/>
            <c:spPr>
              <a:solidFill>
                <a:srgbClr val="1F7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DB-4B8F-9EA2-1E7A12798E6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Cash</c:v>
                </c:pt>
                <c:pt idx="1">
                  <c:v>Credit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10.7</c:v>
                </c:pt>
                <c:pt idx="1">
                  <c:v>14.65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DB-4B8F-9EA2-1E7A12798E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Order Rate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E3B-446D-9346-876230A33A08}"/>
              </c:ext>
            </c:extLst>
          </c:dPt>
          <c:dPt>
            <c:idx val="1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3B-446D-9346-876230A33A08}"/>
              </c:ext>
            </c:extLst>
          </c:dPt>
          <c:dPt>
            <c:idx val="2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3B-446D-9346-876230A33A0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Tenor 1</c:v>
                </c:pt>
                <c:pt idx="1">
                  <c:v>Tenor 2</c:v>
                </c:pt>
                <c:pt idx="2">
                  <c:v>Tenor 3+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17.97</c:v>
                </c:pt>
                <c:pt idx="1">
                  <c:v>14.52</c:v>
                </c:pt>
                <c:pt idx="2">
                  <c:v>11.27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3B-446D-9346-876230A33A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894538606403013E-2"/>
          <c:y val="8.2304526748971193E-2"/>
          <c:w val="0.94821092278719399"/>
          <c:h val="0.8037377272285408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 Rate</c:v>
                </c:pt>
              </c:strCache>
            </c:strRef>
          </c:tx>
          <c:spPr>
            <a:solidFill>
              <a:srgbClr val="D8DEE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92-4222-9D67-E83936C82747}"/>
              </c:ext>
            </c:extLst>
          </c:dPt>
          <c:dPt>
            <c:idx val="1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92-4222-9D67-E83936C82747}"/>
              </c:ext>
            </c:extLst>
          </c:dPt>
          <c:dPt>
            <c:idx val="2"/>
            <c:invertIfNegative val="0"/>
            <c:bubble3D val="0"/>
            <c:spPr>
              <a:solidFill>
                <a:srgbClr val="1F7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92-4222-9D67-E83936C82747}"/>
              </c:ext>
            </c:extLst>
          </c:dPt>
          <c:dPt>
            <c:idx val="3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92-4222-9D67-E83936C8274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&lt;25</c:v>
                </c:pt>
                <c:pt idx="1">
                  <c:v>25-35</c:v>
                </c:pt>
                <c:pt idx="2">
                  <c:v>36-45</c:v>
                </c:pt>
                <c:pt idx="3">
                  <c:v>&gt;45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9.43</c:v>
                </c:pt>
                <c:pt idx="1">
                  <c:v>13.38</c:v>
                </c:pt>
                <c:pt idx="2">
                  <c:v>15.98</c:v>
                </c:pt>
                <c:pt idx="3">
                  <c:v>12.99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F92-4222-9D67-E83936C827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 Rate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7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BB-49FC-8E21-44268E8335AD}"/>
              </c:ext>
            </c:extLst>
          </c:dPt>
          <c:dPt>
            <c:idx val="1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BB-49FC-8E21-44268E8335AD}"/>
              </c:ext>
            </c:extLst>
          </c:dPt>
          <c:dPt>
            <c:idx val="2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BB-49FC-8E21-44268E8335AD}"/>
              </c:ext>
            </c:extLst>
          </c:dPt>
          <c:dPt>
            <c:idx val="3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BB-49FC-8E21-44268E8335AD}"/>
              </c:ext>
            </c:extLst>
          </c:dPt>
          <c:dPt>
            <c:idx val="4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BB-49FC-8E21-44268E8335AD}"/>
              </c:ext>
            </c:extLst>
          </c:dPt>
          <c:dPt>
            <c:idx val="5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4BB-49FC-8E21-44268E8335AD}"/>
              </c:ext>
            </c:extLst>
          </c:dPt>
          <c:dPt>
            <c:idx val="6"/>
            <c:invertIfNegative val="0"/>
            <c:bubble3D val="0"/>
            <c:spPr>
              <a:solidFill>
                <a:srgbClr val="E27D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4BB-49FC-8E21-44268E8335A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Sport Low</c:v>
                </c:pt>
                <c:pt idx="1">
                  <c:v>Cub High</c:v>
                </c:pt>
                <c:pt idx="2">
                  <c:v>Cub Low</c:v>
                </c:pt>
                <c:pt idx="3">
                  <c:v>Sport Mid</c:v>
                </c:pt>
                <c:pt idx="4">
                  <c:v>AT Low</c:v>
                </c:pt>
                <c:pt idx="5">
                  <c:v>AT High</c:v>
                </c:pt>
                <c:pt idx="6">
                  <c:v>EV AT High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23.4</c:v>
                </c:pt>
                <c:pt idx="1">
                  <c:v>19.399999999999999</c:v>
                </c:pt>
                <c:pt idx="2">
                  <c:v>19.3</c:v>
                </c:pt>
                <c:pt idx="3">
                  <c:v>16.7</c:v>
                </c:pt>
                <c:pt idx="4">
                  <c:v>12.6</c:v>
                </c:pt>
                <c:pt idx="5">
                  <c:v>11.7</c:v>
                </c:pt>
                <c:pt idx="6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4BB-49FC-8E21-44268E8335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 Rate</c:v>
                </c:pt>
              </c:strCache>
            </c:strRef>
          </c:tx>
          <c:spPr>
            <a:solidFill>
              <a:srgbClr val="D8DEE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56-40CC-991F-3A114052FB3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456-40CC-991F-3A114052FB3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456-40CC-991F-3A114052FB3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456-40CC-991F-3A114052FB32}"/>
              </c:ext>
            </c:extLst>
          </c:dPt>
          <c:dPt>
            <c:idx val="4"/>
            <c:invertIfNegative val="0"/>
            <c:bubble3D val="0"/>
            <c:spPr>
              <a:solidFill>
                <a:srgbClr val="1F7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56-40CC-991F-3A114052FB3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unit</c:v>
                </c:pt>
                <c:pt idx="1">
                  <c:v>2 unit</c:v>
                </c:pt>
                <c:pt idx="2">
                  <c:v>3 unit</c:v>
                </c:pt>
                <c:pt idx="3">
                  <c:v>4 unit</c:v>
                </c:pt>
                <c:pt idx="4">
                  <c:v>5+ unit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12.8</c:v>
                </c:pt>
                <c:pt idx="1">
                  <c:v>32.9</c:v>
                </c:pt>
                <c:pt idx="2">
                  <c:v>38.9</c:v>
                </c:pt>
                <c:pt idx="3">
                  <c:v>46.7</c:v>
                </c:pt>
                <c:pt idx="4">
                  <c:v>47.6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456-40CC-991F-3A114052FB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 Rate (%)</c:v>
                </c:pt>
              </c:strCache>
            </c:strRef>
          </c:tx>
          <c:spPr>
            <a:ln w="31750" cap="flat">
              <a:solidFill>
                <a:srgbClr val="1F7A6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F7A6C"/>
              </a:solidFill>
              <a:ln w="9525" cap="flat">
                <a:solidFill>
                  <a:srgbClr val="1F7A6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  <c:pt idx="6">
                  <c:v>Jul</c:v>
                </c:pt>
                <c:pt idx="7">
                  <c:v>Ags</c:v>
                </c:pt>
                <c:pt idx="8">
                  <c:v>Sep</c:v>
                </c:pt>
                <c:pt idx="9">
                  <c:v>Okt</c:v>
                </c:pt>
                <c:pt idx="10">
                  <c:v>Nov</c:v>
                </c:pt>
                <c:pt idx="11">
                  <c:v>Des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15.02</c:v>
                </c:pt>
                <c:pt idx="1">
                  <c:v>14.25</c:v>
                </c:pt>
                <c:pt idx="2">
                  <c:v>13.42</c:v>
                </c:pt>
                <c:pt idx="3">
                  <c:v>13.24</c:v>
                </c:pt>
                <c:pt idx="4">
                  <c:v>13.68</c:v>
                </c:pt>
                <c:pt idx="5">
                  <c:v>12.54</c:v>
                </c:pt>
                <c:pt idx="6">
                  <c:v>12.43</c:v>
                </c:pt>
                <c:pt idx="7">
                  <c:v>11.99</c:v>
                </c:pt>
                <c:pt idx="8">
                  <c:v>12.95</c:v>
                </c:pt>
                <c:pt idx="9">
                  <c:v>12.14</c:v>
                </c:pt>
                <c:pt idx="10">
                  <c:v>11.87</c:v>
                </c:pt>
                <c:pt idx="11">
                  <c:v>11.53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6A-49A0-BD24-CCC8C8FE4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 Rate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AF-4868-A8CE-7755DBF1B7E0}"/>
              </c:ext>
            </c:extLst>
          </c:dPt>
          <c:dPt>
            <c:idx val="1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AF-4868-A8CE-7755DBF1B7E0}"/>
              </c:ext>
            </c:extLst>
          </c:dPt>
          <c:dPt>
            <c:idx val="2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AF-4868-A8CE-7755DBF1B7E0}"/>
              </c:ext>
            </c:extLst>
          </c:dPt>
          <c:dPt>
            <c:idx val="3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AF-4868-A8CE-7755DBF1B7E0}"/>
              </c:ext>
            </c:extLst>
          </c:dPt>
          <c:dPt>
            <c:idx val="4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7AF-4868-A8CE-7755DBF1B7E0}"/>
              </c:ext>
            </c:extLst>
          </c:dPt>
          <c:dPt>
            <c:idx val="5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7AF-4868-A8CE-7755DBF1B7E0}"/>
              </c:ext>
            </c:extLst>
          </c:dPt>
          <c:dPt>
            <c:idx val="6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7AF-4868-A8CE-7755DBF1B7E0}"/>
              </c:ext>
            </c:extLst>
          </c:dPt>
          <c:dPt>
            <c:idx val="7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7AF-4868-A8CE-7755DBF1B7E0}"/>
              </c:ext>
            </c:extLst>
          </c:dPt>
          <c:dPt>
            <c:idx val="8"/>
            <c:invertIfNegative val="0"/>
            <c:bubble3D val="0"/>
            <c:spPr>
              <a:solidFill>
                <a:srgbClr val="E27D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7AF-4868-A8CE-7755DBF1B7E0}"/>
              </c:ext>
            </c:extLst>
          </c:dPt>
          <c:dPt>
            <c:idx val="9"/>
            <c:invertIfNegative val="0"/>
            <c:bubble3D val="0"/>
            <c:spPr>
              <a:solidFill>
                <a:srgbClr val="E27D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7AF-4868-A8CE-7755DBF1B7E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6405</c:v>
                </c:pt>
                <c:pt idx="1">
                  <c:v>6471</c:v>
                </c:pt>
                <c:pt idx="2">
                  <c:v>6571</c:v>
                </c:pt>
                <c:pt idx="3">
                  <c:v>6409</c:v>
                </c:pt>
                <c:pt idx="4">
                  <c:v>6401</c:v>
                </c:pt>
                <c:pt idx="5">
                  <c:v>6502</c:v>
                </c:pt>
                <c:pt idx="6">
                  <c:v>6504</c:v>
                </c:pt>
                <c:pt idx="7">
                  <c:v>6403</c:v>
                </c:pt>
                <c:pt idx="8">
                  <c:v>6472</c:v>
                </c:pt>
                <c:pt idx="9">
                  <c:v>6503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</c:v>
                </c:pt>
                <c:pt idx="1">
                  <c:v>13.6</c:v>
                </c:pt>
                <c:pt idx="2">
                  <c:v>12.6</c:v>
                </c:pt>
                <c:pt idx="3">
                  <c:v>12.6</c:v>
                </c:pt>
                <c:pt idx="4">
                  <c:v>12.4</c:v>
                </c:pt>
                <c:pt idx="5">
                  <c:v>11.8</c:v>
                </c:pt>
                <c:pt idx="6">
                  <c:v>9</c:v>
                </c:pt>
                <c:pt idx="7">
                  <c:v>8.9</c:v>
                </c:pt>
                <c:pt idx="8">
                  <c:v>6.5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7AF-4868-A8CE-7755DBF1B7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 Rate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41-4106-90FA-2106582C1D31}"/>
              </c:ext>
            </c:extLst>
          </c:dPt>
          <c:dPt>
            <c:idx val="1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41-4106-90FA-2106582C1D31}"/>
              </c:ext>
            </c:extLst>
          </c:dPt>
          <c:dPt>
            <c:idx val="2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41-4106-90FA-2106582C1D31}"/>
              </c:ext>
            </c:extLst>
          </c:dPt>
          <c:dPt>
            <c:idx val="3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41-4106-90FA-2106582C1D31}"/>
              </c:ext>
            </c:extLst>
          </c:dPt>
          <c:dPt>
            <c:idx val="4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441-4106-90FA-2106582C1D31}"/>
              </c:ext>
            </c:extLst>
          </c:dPt>
          <c:dPt>
            <c:idx val="5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441-4106-90FA-2106582C1D31}"/>
              </c:ext>
            </c:extLst>
          </c:dPt>
          <c:dPt>
            <c:idx val="6"/>
            <c:invertIfNegative val="0"/>
            <c:bubble3D val="0"/>
            <c:spPr>
              <a:solidFill>
                <a:srgbClr val="D8DE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441-4106-90FA-2106582C1D31}"/>
              </c:ext>
            </c:extLst>
          </c:dPt>
          <c:dPt>
            <c:idx val="7"/>
            <c:invertIfNegative val="0"/>
            <c:bubble3D val="0"/>
            <c:spPr>
              <a:solidFill>
                <a:srgbClr val="E27D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441-4106-90FA-2106582C1D3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FC 13</c:v>
                </c:pt>
                <c:pt idx="1">
                  <c:v>FC 2</c:v>
                </c:pt>
                <c:pt idx="2">
                  <c:v>FC 11</c:v>
                </c:pt>
                <c:pt idx="3">
                  <c:v>FC 3</c:v>
                </c:pt>
                <c:pt idx="4">
                  <c:v>FC 1</c:v>
                </c:pt>
                <c:pt idx="5">
                  <c:v>FC 9</c:v>
                </c:pt>
                <c:pt idx="6">
                  <c:v>FC 5</c:v>
                </c:pt>
                <c:pt idx="7">
                  <c:v>FC 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17.8</c:v>
                </c:pt>
                <c:pt idx="1">
                  <c:v>17.100000000000001</c:v>
                </c:pt>
                <c:pt idx="2">
                  <c:v>16.600000000000001</c:v>
                </c:pt>
                <c:pt idx="3">
                  <c:v>15.8</c:v>
                </c:pt>
                <c:pt idx="4">
                  <c:v>14.8</c:v>
                </c:pt>
                <c:pt idx="5">
                  <c:v>14.3</c:v>
                </c:pt>
                <c:pt idx="6">
                  <c:v>10.8</c:v>
                </c:pt>
                <c:pt idx="7">
                  <c:v>10.3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441-4106-90FA-2106582C1D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Importance</c:v>
                </c:pt>
              </c:strCache>
            </c:strRef>
          </c:tx>
          <c:spPr>
            <a:solidFill>
              <a:srgbClr val="D8DEE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ED09-4F3F-A6F1-DCB8E6BF91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09-4F3F-A6F1-DCB8E6BF91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ED09-4F3F-A6F1-DCB8E6BF91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D09-4F3F-A6F1-DCB8E6BF91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ED09-4F3F-A6F1-DCB8E6BF91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D09-4F3F-A6F1-DCB8E6BF9119}"/>
              </c:ext>
            </c:extLst>
          </c:dPt>
          <c:dPt>
            <c:idx val="6"/>
            <c:invertIfNegative val="0"/>
            <c:bubble3D val="0"/>
            <c:spPr>
              <a:solidFill>
                <a:srgbClr val="1F7A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09-4F3F-A6F1-DCB8E6BF911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CLV_Proxy</c:v>
                </c:pt>
                <c:pt idx="1">
                  <c:v>Tipe/Seri Motor</c:v>
                </c:pt>
                <c:pt idx="2">
                  <c:v>Total DP</c:v>
                </c:pt>
                <c:pt idx="3">
                  <c:v>DP (log-scaled)</c:v>
                </c:pt>
                <c:pt idx="4">
                  <c:v>Mitra Pembiayaan</c:v>
                </c:pt>
                <c:pt idx="5">
                  <c:v>Segmen Produk</c:v>
                </c:pt>
                <c:pt idx="6">
                  <c:v>Pekerjaan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</c:v>
                </c:pt>
                <c:pt idx="1">
                  <c:v>1.7</c:v>
                </c:pt>
                <c:pt idx="2">
                  <c:v>2.1</c:v>
                </c:pt>
                <c:pt idx="3">
                  <c:v>2.4</c:v>
                </c:pt>
                <c:pt idx="4">
                  <c:v>3.6</c:v>
                </c:pt>
                <c:pt idx="5">
                  <c:v>3.8</c:v>
                </c:pt>
                <c:pt idx="6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09-4F3F-A6F1-DCB8E6BF91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83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E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2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UCSPARC 2026 – 2W + 1H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Memaksimalkan Repeat Order Pelanggan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Melalui Predictive Retention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Perilaku Pembelian Ulang pada Data Transaksi Pembiayaan Sepeda Motor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Mendukung Strategi Retensi &amp; Cross-/Up-Sell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6745" y="4316828"/>
            <a:ext cx="1828800" cy="0"/>
          </a:xfrm>
          <a:prstGeom prst="line">
            <a:avLst/>
          </a:prstGeom>
          <a:noFill/>
          <a:ln w="31750">
            <a:solidFill>
              <a:srgbClr val="1F7A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berdasarkan eksplorasi data historis pembelian &amp; pembiayaan unit sepeda motor (2019–berjalan)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Peluang retensi besar, namun saat ini baru 12,9% pelanggan yang repeat order pada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68952"/>
            <a:ext cx="329184" cy="32918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59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8598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pelanggan saat ini rendah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203354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266.926 pelanggan, hanya 12,9% tercatat melakukan Repeat Order (RO) 87,1% adalah pembeli satu kali. Padahal industri sepeda motor nasional tumbuh stabil ke 6,41 juta unit (2025) dengan 65% pembelian dibiayai kredit — basis pelanggan besar yang belum dikonversi menjadi pelanggan berulang.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144872"/>
            <a:ext cx="329184" cy="32918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13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1448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RO terbukti signifikan secara statistik pada 8 variabel kunci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330946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kredit (+37% vs cash), tenor pendek (17,97% vs 11,27% pada tenor panjang), rasio DP tinggi (median 0,31 vs 0,07), segmen non-matic (18,3% vs 12,3% matic), usia 36–45 tahun (16,0%), dan pembelian multi-unit di hari pertama seluruhnya signifikan (p &lt; 0,05) sebagai pembeda pelanggan loyal.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462272"/>
            <a:ext cx="329184" cy="32918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453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445086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prediktif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</a:t>
            </a: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retention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61783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terpilih sebagai model terbaik (ROC-AUC 0,71) dengan Recall 62% pada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RO, mengamankan mayoritas pelanggan potensial untuk di-follow-up sebelum sempat berpindah ke kompetitor, didukung rasio cicilan, kapasitas kredit, dan usia hari pertama sebagai prediktor utama (Recency terbukti bias dan dikeluarkan dari model, dianalisis terpisah lewat Survival Analysis).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historis transaksi pembiayaan sepeda motor (SPARC dataset) 2019–berjalan; AISI (2026)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Potensi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pasar sepeda motor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tumbuh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namun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tingkat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retensi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pelanggan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masih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belum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maksimal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91535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sepeda</a:t>
            </a:r>
            <a:r>
              <a:rPr lang="en-ID" sz="1200" dirty="0"/>
              <a:t> motor </a:t>
            </a:r>
            <a:r>
              <a:rPr lang="en-ID" sz="1200" dirty="0" err="1"/>
              <a:t>nasional</a:t>
            </a:r>
            <a:r>
              <a:rPr lang="en-ID" sz="1200" dirty="0"/>
              <a:t> </a:t>
            </a:r>
            <a:r>
              <a:rPr lang="en-ID" sz="1200" dirty="0" err="1"/>
              <a:t>tumbuh</a:t>
            </a:r>
            <a:r>
              <a:rPr lang="en-ID" sz="1200" dirty="0"/>
              <a:t> </a:t>
            </a:r>
            <a:r>
              <a:rPr lang="en-ID" sz="1200" dirty="0" err="1"/>
              <a:t>stabil</a:t>
            </a:r>
            <a:r>
              <a:rPr lang="en-ID" sz="1200" dirty="0"/>
              <a:t> </a:t>
            </a:r>
            <a:r>
              <a:rPr lang="en-ID" sz="1200" dirty="0" err="1"/>
              <a:t>mencapai</a:t>
            </a:r>
            <a:r>
              <a:rPr lang="en-ID" sz="1200" dirty="0"/>
              <a:t> 6,41 </a:t>
            </a:r>
            <a:r>
              <a:rPr lang="en-ID" sz="1200" dirty="0" err="1"/>
              <a:t>juta</a:t>
            </a:r>
            <a:r>
              <a:rPr lang="en-ID" sz="1200" dirty="0"/>
              <a:t> unit pada 2025,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dominasi</a:t>
            </a:r>
            <a:r>
              <a:rPr lang="en-ID" sz="1200" dirty="0"/>
              <a:t> </a:t>
            </a:r>
            <a:r>
              <a:rPr lang="en-ID" sz="1200" dirty="0" err="1"/>
              <a:t>transaksi</a:t>
            </a:r>
            <a:r>
              <a:rPr lang="en-ID" sz="1200" dirty="0"/>
              <a:t> </a:t>
            </a:r>
            <a:r>
              <a:rPr lang="en-ID" sz="1200" dirty="0" err="1"/>
              <a:t>berbasis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sebesar</a:t>
            </a:r>
            <a:r>
              <a:rPr lang="en-ID" sz="1200" dirty="0"/>
              <a:t> 65%. </a:t>
            </a:r>
            <a:r>
              <a:rPr lang="en-ID" sz="1200" dirty="0" err="1"/>
              <a:t>Meskipun</a:t>
            </a:r>
            <a:r>
              <a:rPr lang="en-ID" sz="1200" dirty="0"/>
              <a:t> </a:t>
            </a:r>
            <a:r>
              <a:rPr lang="en-ID" sz="1200" dirty="0" err="1"/>
              <a:t>fondasi</a:t>
            </a:r>
            <a:r>
              <a:rPr lang="en-ID" sz="1200" dirty="0"/>
              <a:t> pasar </a:t>
            </a:r>
            <a:r>
              <a:rPr lang="en-ID" sz="1200" dirty="0" err="1"/>
              <a:t>pembiayaan</a:t>
            </a:r>
            <a:r>
              <a:rPr lang="en-ID" sz="1200" dirty="0"/>
              <a:t> sangat </a:t>
            </a:r>
            <a:r>
              <a:rPr lang="en-ID" sz="1200" dirty="0" err="1"/>
              <a:t>besar</a:t>
            </a:r>
            <a:r>
              <a:rPr lang="en-ID" sz="1200" dirty="0"/>
              <a:t>, </a:t>
            </a:r>
            <a:r>
              <a:rPr lang="en-ID" sz="1200" dirty="0" err="1"/>
              <a:t>tingkat</a:t>
            </a:r>
            <a:r>
              <a:rPr lang="en-ID" sz="1200" dirty="0"/>
              <a:t> </a:t>
            </a:r>
            <a:r>
              <a:rPr lang="en-ID" sz="1200" i="1" dirty="0"/>
              <a:t>Repeat Order</a:t>
            </a:r>
            <a:r>
              <a:rPr lang="en-ID" sz="1200" dirty="0"/>
              <a:t> (RO) internal dataset </a:t>
            </a:r>
            <a:r>
              <a:rPr lang="en-ID" sz="1200" dirty="0" err="1"/>
              <a:t>baru</a:t>
            </a:r>
            <a:r>
              <a:rPr lang="en-ID" sz="1200" dirty="0"/>
              <a:t> </a:t>
            </a:r>
            <a:r>
              <a:rPr lang="en-ID" sz="1200" dirty="0" err="1"/>
              <a:t>menyentuh</a:t>
            </a:r>
            <a:r>
              <a:rPr lang="en-ID" sz="1200" dirty="0"/>
              <a:t> 12,9%. Fakta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menegaskan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strategi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harus</a:t>
            </a:r>
            <a:r>
              <a:rPr lang="en-ID" sz="1200" dirty="0"/>
              <a:t> </a:t>
            </a:r>
            <a:r>
              <a:rPr lang="en-ID" sz="1200" dirty="0" err="1"/>
              <a:t>beralih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sekadar</a:t>
            </a:r>
            <a:r>
              <a:rPr lang="en-ID" sz="1200" dirty="0"/>
              <a:t> </a:t>
            </a:r>
            <a:r>
              <a:rPr lang="en-ID" sz="1200" dirty="0" err="1"/>
              <a:t>akuisisi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 </a:t>
            </a:r>
            <a:r>
              <a:rPr lang="en-ID" sz="1200" dirty="0" err="1"/>
              <a:t>baru</a:t>
            </a:r>
            <a:r>
              <a:rPr lang="en-ID" sz="1200" dirty="0"/>
              <a:t> </a:t>
            </a:r>
            <a:r>
              <a:rPr lang="en-ID" sz="1200" dirty="0" err="1"/>
              <a:t>menuju</a:t>
            </a:r>
            <a:r>
              <a:rPr lang="en-ID" sz="1200" dirty="0"/>
              <a:t> </a:t>
            </a:r>
            <a:r>
              <a:rPr lang="en-ID" sz="1200" dirty="0" err="1"/>
              <a:t>optimalisasi</a:t>
            </a:r>
            <a:r>
              <a:rPr lang="en-ID" sz="1200" dirty="0"/>
              <a:t> </a:t>
            </a:r>
            <a:r>
              <a:rPr lang="en-ID" sz="1200" dirty="0" err="1"/>
              <a:t>retensi</a:t>
            </a:r>
            <a:r>
              <a:rPr lang="en-ID" sz="1200" dirty="0"/>
              <a:t> </a:t>
            </a:r>
            <a:r>
              <a:rPr lang="en-ID" sz="1200" dirty="0" err="1"/>
              <a:t>berbasis</a:t>
            </a:r>
            <a:r>
              <a:rPr lang="en-ID" sz="1200" dirty="0"/>
              <a:t> data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memaksimalkan</a:t>
            </a:r>
            <a:r>
              <a:rPr lang="en-ID" sz="1200" dirty="0"/>
              <a:t> </a:t>
            </a:r>
            <a:r>
              <a:rPr lang="en-ID" sz="1200" dirty="0" err="1"/>
              <a:t>profitabilitas</a:t>
            </a:r>
            <a:r>
              <a:rPr lang="en-ID" sz="1200" dirty="0"/>
              <a:t>.</a:t>
            </a:r>
          </a:p>
        </p:txBody>
      </p:sp>
      <p:sp>
        <p:nvSpPr>
          <p:cNvPr id="5" name="Shape 3"/>
          <p:cNvSpPr/>
          <p:nvPr/>
        </p:nvSpPr>
        <p:spPr>
          <a:xfrm>
            <a:off x="502920" y="2971800"/>
            <a:ext cx="2514600" cy="160020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46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6,41 juta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37673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motor terjual nasional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(AISI, 2025, +1,3% YoY)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2971800"/>
            <a:ext cx="2514600" cy="160020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3246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37673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Pangsa pasar segmen skutik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penjualan nasional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2971800"/>
            <a:ext cx="2514600" cy="160020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3246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89320" y="37673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Pembelian motor nasional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dibiayai melalui kredit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0" y="2971800"/>
            <a:ext cx="2514600" cy="160020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32461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12,9%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0" y="37673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 rate pada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554618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bisnis: dengan penetrasi kredit yang tinggi dan pasar yang terus tumbuh, gap retensi 87,1% pembeli tunggal merepresentasikan peluang pendapatan signifikan yang belum tergarap — baik melalui penjualan unit tambahan, upgrade, maupun refinancing.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AISI — Laporan Kinerja Penjualan Sepeda Motor 2025 (Jan 2026); data internal SPARC dataset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utama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memprediksi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probabilitas Repeat Order dari profil transaksi hari pertama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4830" y="168835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Objektif Model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7373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Memprediksi probabilitas seorang pelanggan akan melakukan Repeat Order (pembelian unit motor kedua atau lebih) berdasarkan informasi yang tersedia perusahaan pada hari transaksi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pertama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sehingga</a:t>
            </a: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 marketing dapat melakukan follow-up yang tepat sasaran sejak dini.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3400" y="3465576"/>
            <a:ext cx="5303520" cy="233172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760802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direkonstruksi agar hanya menggunakan variabel dari hari transaksi pertama setiap pelanggan. Informasi transaksi masa depan (termasuk tanggal repeat) dipisahkan sepenuhnya dari fitur prediktor — meniru kondisi nyata di mana perusahaan hanya mengenal pelanggan baru dari data hari itu saja.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5321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19156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 ·  Repeat Order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32220" y="2055446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tercatat melakukan minimal 2 kali transaksi pembelian motor pada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Yang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kembali bertransaksi setelah selang waktu tertentu. Ini adalah profil ideal yang ingin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dipelajari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mendeteksi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100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berpotensi</a:t>
            </a: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Melakukan repeat order.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3794760"/>
            <a:ext cx="553212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  ·  One-Time Buyer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4057982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500"/>
              </a:lnSpc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hanya memiliki riwayat transaksi pada satu tanggal spesifik dan tidak pernah kembali bertransaksi di hari-hari berikutnya sepanjang periode data yang tersedia.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definisi target berdasarkan riwayat transaksi per Customer ID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METODOLOGI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319.978 baris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transaksi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mentah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menjadi 266.926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pelanggan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96896" cy="214884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8288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duplikat, standarisasi teks &amp; format tanggal/mata uang, koreksi anomali (DP &gt; OTR, umur tidak logis, cicilan pada transaksi cash).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264408" y="1691640"/>
            <a:ext cx="2596896" cy="214884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8288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Rekonstruksi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disusun ulang per Customer ID dan  hanya baris transaksi hari pertama dipakai </a:t>
            </a:r>
            <a:r>
              <a:rPr lang="en-US" sz="98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</a:t>
            </a: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8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mencegah data leakage dari transaksi masa depan.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025896" y="1691640"/>
            <a:ext cx="2596896" cy="214884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1" name="Text 9"/>
          <p:cNvSpPr/>
          <p:nvPr/>
        </p:nvSpPr>
        <p:spPr>
          <a:xfrm>
            <a:off x="6190488" y="18288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Target Labelling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90488" y="182880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transaksi lanjutan per pelanggan untuk membentuk label biner Repeat Order (1) vs One-Time Buyer (0).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787384" y="1691640"/>
            <a:ext cx="2596896" cy="214884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8951976" y="182880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Engineering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51976" y="1828800"/>
            <a:ext cx="23042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fitur akhir: rasio finansial (DP, cicilan/OTR), demografi, recency, musiman, dan flag segmen non-matic.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10966704" cy="1691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7939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dari Sudut Pandang Hari Pertama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364083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550"/>
              </a:lnSpc>
            </a:pP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Seluruh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fitur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prediktor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diagregasi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murni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berdasarkan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data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transaksi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di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hari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pertama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saja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,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seperti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nominal DP, tenor, dan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segmen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kendaraan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.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Sementara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itu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, target </a:t>
            </a:r>
            <a:r>
              <a:rPr lang="en-ID" sz="1100" i="1" dirty="0">
                <a:solidFill>
                  <a:schemeClr val="bg2">
                    <a:lumMod val="90000"/>
                  </a:schemeClr>
                </a:solidFill>
              </a:rPr>
              <a:t>Repeat Order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diekstrak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dari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aktivitas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transaksi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di masa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depan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(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apakah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akan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melakukan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repeat order).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Pemisahan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temporal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ini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mengeliminasi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risiko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i="1" dirty="0">
                <a:solidFill>
                  <a:schemeClr val="bg2">
                    <a:lumMod val="90000"/>
                  </a:schemeClr>
                </a:solidFill>
              </a:rPr>
              <a:t>data leakage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dan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memastikan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arsitektur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model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sejalan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dengan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skenario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i="1" dirty="0">
                <a:solidFill>
                  <a:schemeClr val="bg2">
                    <a:lumMod val="90000"/>
                  </a:schemeClr>
                </a:solidFill>
              </a:rPr>
              <a:t>deployment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di dunia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nyata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, di mana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prediksi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harus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dieksekusi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secara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instan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saat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pelanggan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baru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dirty="0" err="1">
                <a:solidFill>
                  <a:schemeClr val="bg2">
                    <a:lumMod val="90000"/>
                  </a:schemeClr>
                </a:solidFill>
              </a:rPr>
              <a:t>melakukan</a:t>
            </a:r>
            <a:r>
              <a:rPr lang="en-ID" sz="11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D" sz="1100" i="1" dirty="0">
                <a:solidFill>
                  <a:schemeClr val="bg2">
                    <a:lumMod val="90000"/>
                  </a:schemeClr>
                </a:solidFill>
              </a:rPr>
              <a:t>onboarding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(319.978 baris transaksi mentah, 2019–berjalan)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9B717C-7ED6-DC7B-B859-A3B9E0E0B4DD}"/>
              </a:ext>
            </a:extLst>
          </p:cNvPr>
          <p:cNvCxnSpPr/>
          <p:nvPr/>
        </p:nvCxnSpPr>
        <p:spPr>
          <a:xfrm>
            <a:off x="1789723" y="3641969"/>
            <a:ext cx="8221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LANSKAP RETENSI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266.926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pelanggan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pada dataset mayoritas absolut masih menjadi pembeli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kali (87.1%)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172200170"/>
              </p:ext>
            </p:extLst>
          </p:nvPr>
        </p:nvGraphicFramePr>
        <p:xfrm>
          <a:off x="502920" y="169164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429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266.926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pelanggan dianalisis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35040" y="2149544"/>
            <a:ext cx="100584" cy="100584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2021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retensi rendah secara struktural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36792" y="217478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1 pelanggan repeat order berbanding ~6,7 pembeli tunggal menandakan sebagian besar potensi lifetime value pelanggan belum tergarap.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035040" y="3254049"/>
            <a:ext cx="100584" cy="100584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3126033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masalah kualitas produk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09360" y="3327006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nasional tetap tumbuh (+1,3% YoY 2025), </a:t>
            </a:r>
            <a:r>
              <a:rPr lang="en-US" sz="108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artinya</a:t>
            </a: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gap retensi lebih mencerminkan minimnya program follow-up terstruktur pasca transaksi pertama.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035040" y="4388730"/>
            <a:ext cx="100584" cy="100584"/>
          </a:xfrm>
          <a:prstGeom prst="ellipse">
            <a:avLst/>
          </a:prstGeom>
          <a:solidFill>
            <a:srgbClr val="E27D60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426071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Menimbulkan</a:t>
            </a: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Imbalance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4438319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pemodelan, class imbalance ini ditangani melalui undersampling kelas mayoritas pada data latih (bukan SMOTE) agar model belajar pola asli, bukan data sintetis.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agregasi level pelanggan (n=266.926)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1 — METODE PEMBAYARAN &amp; TENOR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D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</a:t>
            </a:r>
            <a:r>
              <a:rPr lang="en-ID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pelunasan</a:t>
            </a:r>
            <a:r>
              <a:rPr lang="en-ID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cepat</a:t>
            </a:r>
            <a:r>
              <a:rPr lang="en-ID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jadi</a:t>
            </a:r>
            <a:r>
              <a:rPr lang="en-ID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faktor</a:t>
            </a:r>
            <a:r>
              <a:rPr lang="en-ID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potensi</a:t>
            </a:r>
            <a:r>
              <a:rPr lang="en-ID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repeat order</a:t>
            </a:r>
            <a:endParaRPr lang="en-US" sz="2600" dirty="0">
              <a:solidFill>
                <a:srgbClr val="444658"/>
              </a:solidFill>
            </a:endParaRPr>
          </a:p>
          <a:p>
            <a:r>
              <a:rPr lang="en-US" sz="2800" dirty="0">
                <a:solidFill>
                  <a:srgbClr val="44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Kredit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dan tenor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adalah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dua variable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loyalitas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paling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kuat</a:t>
            </a:r>
            <a:endParaRPr lang="en-US" sz="2600" b="1" dirty="0">
              <a:solidFill>
                <a:srgbClr val="2B2D4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Kredit Mendorong Loyalitas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855872580"/>
              </p:ext>
            </p:extLst>
          </p:nvPr>
        </p:nvGraphicFramePr>
        <p:xfrm>
          <a:off x="502920" y="226314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kredit memiliki probabilitas RO 37% lebih tinggi dibanding pelanggan cash (14,65% vs 10,70%) — </a:t>
            </a:r>
            <a:r>
              <a:rPr lang="en-US" sz="10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dana tunai besar untuk transaksi kedua umumnya lebih sulit dibanding menggunakan kembali limit kredit yang sudah tersedia.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Tenor Pendek, Repeat Order Tertinggi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445215270"/>
              </p:ext>
            </p:extLst>
          </p:nvPr>
        </p:nvGraphicFramePr>
        <p:xfrm>
          <a:off x="6263640" y="2235708"/>
          <a:ext cx="54406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4434840"/>
            <a:ext cx="5440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pendek tenor, semakin tinggi peluang RO — nasabah tenor 1 mampu membayar cicilan lebih besar dalam waktu singkat, sehingga begitu lunas mereka memiliki ruang arus kas untuk mengajukan kredit baru lebih cepat.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uji Chi-Square &amp; Mann-Whitney, p &lt; 0,0001 pada kedua variabel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2 — USIA &amp; KOMITMEN FINANSIAL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Stabilitas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Finansial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&amp;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Kebutuhan</a:t>
            </a:r>
            <a:r>
              <a:rPr lang="en-US" sz="2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Mengapa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Segmen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Usia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36-45 Paling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Potensial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untuk</a:t>
            </a:r>
            <a:r>
              <a:rPr lang="en-ID" sz="2800" b="1" dirty="0">
                <a:latin typeface="Cambria" panose="02040503050406030204" pitchFamily="18" charset="0"/>
                <a:ea typeface="Cambria" panose="02040503050406030204" pitchFamily="18" charset="0"/>
              </a:rPr>
              <a:t> Repeat Order</a:t>
            </a:r>
            <a:endParaRPr lang="en-US" sz="2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 Rate berdasarkan Kelompok Usia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928456437"/>
              </p:ext>
            </p:extLst>
          </p:nvPr>
        </p:nvGraphicFramePr>
        <p:xfrm>
          <a:off x="502920" y="2130552"/>
          <a:ext cx="53949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262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usia 36–45 tahun paling loyal (16,0%) berkat kemapanan finansial (karir &amp; keluarga), sementara nasabah &lt;25 tahun (9,4%) masih dalam fase stabilitas ekonomi yang berkembang.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Down Payment (DP) terhadap OTR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48400" y="2057400"/>
            <a:ext cx="5440680" cy="246888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9" name="Text 6"/>
          <p:cNvSpPr/>
          <p:nvPr/>
        </p:nvSpPr>
        <p:spPr>
          <a:xfrm>
            <a:off x="6741160" y="2647149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0,07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741160" y="3396957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DP Ratio)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935720" y="2651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935720" y="34015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DP Ratio)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957945" y="2352675"/>
            <a:ext cx="0" cy="1737360"/>
          </a:xfrm>
          <a:prstGeom prst="line">
            <a:avLst/>
          </a:prstGeom>
          <a:noFill/>
          <a:ln w="12700">
            <a:solidFill>
              <a:srgbClr val="D8DEE4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162040" y="4524717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repeat order menempatkan DP di muka lebih dari 4x lebih tinggi (median) dibanding pembeli tunggal — sinyal kuat kapasitas finansial dan komitmen sejak transaksi pertama.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uji Mann-Whitney U, p &lt; 0,0001 pada kedua variabel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3 — SEGMEN PRODUK &amp; MULTI-UNIT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Pembeli non-matic dan pembeli multi-unit adalah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kelompok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dengan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probabilitas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kembali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membeli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yang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lebih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39685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Non-Matic Lebih Loyal dari Matic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4349513"/>
              </p:ext>
            </p:extLst>
          </p:nvPr>
        </p:nvGraphicFramePr>
        <p:xfrm>
          <a:off x="502920" y="2205445"/>
          <a:ext cx="5394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33401" y="4994365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Sport Low memimpin (23,4%), sementara EV AT High tercatat paling rendah (5,7%) — kategori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matic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(AT)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rendah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dibandingkan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sport dan cub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640" y="1839685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 Multi-Unit di Hari Pertama Sangat Loyal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4263206385"/>
              </p:ext>
            </p:extLst>
          </p:nvPr>
        </p:nvGraphicFramePr>
        <p:xfrm>
          <a:off x="6263640" y="2205445"/>
          <a:ext cx="54406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291072" y="4994365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rate melonjak dari 12,8% (1 unit) menjadi &gt;45% pada pembelian 4+ unit. Populasi di kelompok ini kecil namun signifikan secara statistik (Chi-Square, p &lt; 0,0001) — bukan anomali sampel.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segmen dengan n ≥ 50; kelompok unit dengan n ≥ 5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4 — WAKTU: GOLDEN WINDOW &amp; MUSIMAN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 repeat order terjadi dalam 1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tahun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pertama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dengan median waktu tunggu 700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repeat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137160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9837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063240" y="1784076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RO kembali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bertransaksi dalam &lt;1 tahun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("Golden Window")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3214116"/>
            <a:ext cx="5394960" cy="137160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6557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hari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63240" y="3351276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waktu tunggu menuju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kedua (~2 tahun)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50% pelanggan RO lainnya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680" y="4658868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145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Implikasi: strategi follow-up 2 fase — kampanye konversi cepat di 365 hari pertama, dilanjutkan program pemeliharaan hubungan pelanggan berkala hingga tahun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Maksimalkan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700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sedikit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repeat order yang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Rate berdasarkan Bulan Transaksi Pertama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263640" y="1965960"/>
          <a:ext cx="54406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pola musiman berdasarkan tanggal transaksi pertama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 WILAYAH &amp; MITRA PEMBIAYAAN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Kesenjangan loyalitas signifikan antar wilayah dan perusahaan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pembiayaan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pada 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yang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tinggi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 Rate — Top 10 Wilayah (by Volume)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 Rate — Top 8 Mitra Pembiayaan (by Volume)</a:t>
            </a:r>
            <a:endParaRPr lang="en-US" sz="12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263640" y="1965960"/>
          <a:ext cx="5440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297141"/>
            <a:ext cx="11201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 6405 &amp; 6471 mencatat retensi tertinggi (13,6–15,0%), sementara 6472 &amp; 6503 terendah (~6%) meski volume akuisisi besar — sukses akuisisi belum diikuti konversi jangka panjang. Rentang RO rate antar mitra pembiayaan (10,3%–17,8%) menegaskan pentingnya memilih mitra dengan skema cicilan yang mendorong kepuasan pelanggan, bukan sekadar kemudahan persetujuan.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uji Chi-Square, p &lt; 0,0001 pada wilayah &amp; finance company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STATISTIK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Seluruh 8 variabel kunci terbukti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signifikan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secara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sebagai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pembeda Repeat Order (p &lt; 0,05)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4114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Statistik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Usia (umur)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 × 10⁻¹⁵⁰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Metode Pembayaran (Cash/Credit)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Durasi Repeat vs Metode Pembayaran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Perusahaan Pembiayaan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Wilayah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Unit (Jml_Unit)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 Matic vs Non-Matic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variabel yang diuji menunjukkan p-value jauh di bawah ambang 0,05 — memastikan pola perilaku yang teridentifikasi dalam EDA bukan kebetulan statistik, melainkan sinyal yang dapat dipertanggungjawabkan untuk digunakan sebagai fitur model prediktif maupun dasar segmentasi program retensi.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internal SPARC dataset — hasil uji Chi-Square Test of Independence &amp; Mann-Whitney U Test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57AF6FDF-8A07-EA66-0BF0-D7A1149A22F8}"/>
              </a:ext>
            </a:extLst>
          </p:cNvPr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PEMODELAN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995EF17-89BD-87E5-8252-FD4EA6891FEE}"/>
              </a:ext>
            </a:extLst>
          </p:cNvPr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5 tahap dari data split hingga pemilihan model final — empat algoritma diuji, XGBoost Classifier terpilih</a:t>
            </a:r>
            <a:endParaRPr lang="en-US" sz="26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B17330AA-0E29-50D6-BB97-A53814A0D596}"/>
              </a:ext>
            </a:extLst>
          </p:cNvPr>
          <p:cNvSpPr/>
          <p:nvPr/>
        </p:nvSpPr>
        <p:spPr>
          <a:xfrm>
            <a:off x="502920" y="1536192"/>
            <a:ext cx="2057400" cy="173736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7DDF9D9-8CF7-05F8-05E7-210458ADA086}"/>
              </a:ext>
            </a:extLst>
          </p:cNvPr>
          <p:cNvSpPr/>
          <p:nvPr/>
        </p:nvSpPr>
        <p:spPr>
          <a:xfrm>
            <a:off x="502920" y="1536192"/>
            <a:ext cx="2057400" cy="54864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922BF0A-448C-6CA8-016D-E3414C96B48B}"/>
              </a:ext>
            </a:extLst>
          </p:cNvPr>
          <p:cNvSpPr/>
          <p:nvPr/>
        </p:nvSpPr>
        <p:spPr>
          <a:xfrm>
            <a:off x="612648" y="1664208"/>
            <a:ext cx="1856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Split</a:t>
            </a:r>
            <a:endParaRPr lang="en-US" sz="11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550AA73-4655-1447-E92B-92A2A83348F2}"/>
              </a:ext>
            </a:extLst>
          </p:cNvPr>
          <p:cNvSpPr/>
          <p:nvPr/>
        </p:nvSpPr>
        <p:spPr>
          <a:xfrm>
            <a:off x="612648" y="1984248"/>
            <a:ext cx="18562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266.926 pelanggan, 20 fitur (Recency_Days dikeluarkan) dibagi 70/20/10 (train/validation/test split, stratified, random_state=42). Test set hanya disentuh sekali di akhir agar evaluasi tidak bias.</a:t>
            </a:r>
            <a:endParaRPr lang="en-US" sz="83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885499F-E6C0-EBC0-B543-0E74CCB153C8}"/>
              </a:ext>
            </a:extLst>
          </p:cNvPr>
          <p:cNvSpPr/>
          <p:nvPr/>
        </p:nvSpPr>
        <p:spPr>
          <a:xfrm>
            <a:off x="2532888" y="1536192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B572B107-F571-BFA4-8102-543D4BC76A3C}"/>
              </a:ext>
            </a:extLst>
          </p:cNvPr>
          <p:cNvSpPr/>
          <p:nvPr/>
        </p:nvSpPr>
        <p:spPr>
          <a:xfrm>
            <a:off x="2679192" y="1536192"/>
            <a:ext cx="2057400" cy="173736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ACCD6AA0-4A52-3B03-1C10-FBAF10686D06}"/>
              </a:ext>
            </a:extLst>
          </p:cNvPr>
          <p:cNvSpPr/>
          <p:nvPr/>
        </p:nvSpPr>
        <p:spPr>
          <a:xfrm>
            <a:off x="2679192" y="1536192"/>
            <a:ext cx="2057400" cy="54864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A0D8D367-A5A7-7C8E-4F25-1E6A5703C1C1}"/>
              </a:ext>
            </a:extLst>
          </p:cNvPr>
          <p:cNvSpPr/>
          <p:nvPr/>
        </p:nvSpPr>
        <p:spPr>
          <a:xfrm>
            <a:off x="2788920" y="1664208"/>
            <a:ext cx="1856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 Balancing</a:t>
            </a:r>
            <a:endParaRPr lang="en-US" sz="11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C75056A-0DA1-4698-0165-43DB5070B88F}"/>
              </a:ext>
            </a:extLst>
          </p:cNvPr>
          <p:cNvSpPr/>
          <p:nvPr/>
        </p:nvSpPr>
        <p:spPr>
          <a:xfrm>
            <a:off x="2788920" y="1984248"/>
            <a:ext cx="18562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di-undersample 1:1 (kelas mayoritas disamakan dengan kelas minoritas). Tidak memakai SMOTE agar model belajar dari pola data asli, bukan data sintetis.</a:t>
            </a:r>
            <a:endParaRPr lang="en-US" sz="83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DCA092D2-B393-51DA-2737-0DA9F9B52F6D}"/>
              </a:ext>
            </a:extLst>
          </p:cNvPr>
          <p:cNvSpPr/>
          <p:nvPr/>
        </p:nvSpPr>
        <p:spPr>
          <a:xfrm>
            <a:off x="4709160" y="1536192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3AB8A55-3BC3-FA25-DD90-6871F986D427}"/>
              </a:ext>
            </a:extLst>
          </p:cNvPr>
          <p:cNvSpPr/>
          <p:nvPr/>
        </p:nvSpPr>
        <p:spPr>
          <a:xfrm>
            <a:off x="4855464" y="1536192"/>
            <a:ext cx="2057400" cy="173736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B4AD82A-4EF8-17C0-0ED9-F3887940CB13}"/>
              </a:ext>
            </a:extLst>
          </p:cNvPr>
          <p:cNvSpPr/>
          <p:nvPr/>
        </p:nvSpPr>
        <p:spPr>
          <a:xfrm>
            <a:off x="4855464" y="1536192"/>
            <a:ext cx="2057400" cy="54864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64E71F21-3C53-E49F-36ED-7554315A614D}"/>
              </a:ext>
            </a:extLst>
          </p:cNvPr>
          <p:cNvSpPr/>
          <p:nvPr/>
        </p:nvSpPr>
        <p:spPr>
          <a:xfrm>
            <a:off x="4965192" y="1664208"/>
            <a:ext cx="1856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Preprocessing</a:t>
            </a:r>
            <a:endParaRPr lang="en-US" sz="11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55BE22D-83E7-B473-671D-88F6E5AA5A57}"/>
              </a:ext>
            </a:extLst>
          </p:cNvPr>
          <p:cNvSpPr/>
          <p:nvPr/>
        </p:nvSpPr>
        <p:spPr>
          <a:xfrm>
            <a:off x="4965192" y="1984248"/>
            <a:ext cx="18562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dengan 3 jalur paralel sesuai tipe fitur — lihat rincian di bawah. Fitting hanya pada train set, lalu diterapkan ke validation &amp; test set (mencegah leakage).</a:t>
            </a:r>
            <a:endParaRPr lang="en-US" sz="83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2DB84871-2741-224F-9BAD-A72CBABAD439}"/>
              </a:ext>
            </a:extLst>
          </p:cNvPr>
          <p:cNvSpPr/>
          <p:nvPr/>
        </p:nvSpPr>
        <p:spPr>
          <a:xfrm>
            <a:off x="6885432" y="1536192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C89E3382-6A32-BF68-83CE-AF3BA91BF2A7}"/>
              </a:ext>
            </a:extLst>
          </p:cNvPr>
          <p:cNvSpPr/>
          <p:nvPr/>
        </p:nvSpPr>
        <p:spPr>
          <a:xfrm>
            <a:off x="7031736" y="1536192"/>
            <a:ext cx="2057400" cy="173736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4DB4C130-16EC-5536-CF76-51B71E5CE333}"/>
              </a:ext>
            </a:extLst>
          </p:cNvPr>
          <p:cNvSpPr/>
          <p:nvPr/>
        </p:nvSpPr>
        <p:spPr>
          <a:xfrm>
            <a:off x="7031736" y="1536192"/>
            <a:ext cx="2057400" cy="54864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B86914A3-00FF-AAA0-812D-743E31E84B63}"/>
              </a:ext>
            </a:extLst>
          </p:cNvPr>
          <p:cNvSpPr/>
          <p:nvPr/>
        </p:nvSpPr>
        <p:spPr>
          <a:xfrm>
            <a:off x="7141464" y="1664208"/>
            <a:ext cx="1856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Hyperparameter Search</a:t>
            </a:r>
            <a:endParaRPr lang="en-US" sz="11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77FA8338-F2A2-15B8-4FE2-708A05CAB5E4}"/>
              </a:ext>
            </a:extLst>
          </p:cNvPr>
          <p:cNvSpPr/>
          <p:nvPr/>
        </p:nvSpPr>
        <p:spPr>
          <a:xfrm>
            <a:off x="7141464" y="1984248"/>
            <a:ext cx="18562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(n_iter=10, cv=5, scoring=ROC-AUC) dijalankan untuk 4 kandidat model, masing-masing dengan grid parameter spesifik — lihat rincian di bawah.</a:t>
            </a:r>
            <a:endParaRPr lang="en-US" sz="83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B33868CF-7508-B205-A496-3B332E13D777}"/>
              </a:ext>
            </a:extLst>
          </p:cNvPr>
          <p:cNvSpPr/>
          <p:nvPr/>
        </p:nvSpPr>
        <p:spPr>
          <a:xfrm>
            <a:off x="9061704" y="1536192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6EE73F78-402F-4530-98A4-401C7F457456}"/>
              </a:ext>
            </a:extLst>
          </p:cNvPr>
          <p:cNvSpPr/>
          <p:nvPr/>
        </p:nvSpPr>
        <p:spPr>
          <a:xfrm>
            <a:off x="9208008" y="1536192"/>
            <a:ext cx="2057400" cy="173736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38" name="Shape 23">
            <a:extLst>
              <a:ext uri="{FF2B5EF4-FFF2-40B4-BE49-F238E27FC236}">
                <a16:creationId xmlns:a16="http://schemas.microsoft.com/office/drawing/2014/main" id="{6397158C-36E5-F211-C68A-67DD9B344831}"/>
              </a:ext>
            </a:extLst>
          </p:cNvPr>
          <p:cNvSpPr/>
          <p:nvPr/>
        </p:nvSpPr>
        <p:spPr>
          <a:xfrm>
            <a:off x="9208008" y="1536192"/>
            <a:ext cx="2057400" cy="54864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8CDA2C02-127E-773C-2088-B8888C5399BC}"/>
              </a:ext>
            </a:extLst>
          </p:cNvPr>
          <p:cNvSpPr/>
          <p:nvPr/>
        </p:nvSpPr>
        <p:spPr>
          <a:xfrm>
            <a:off x="9317736" y="1664208"/>
            <a:ext cx="1856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Threshold &amp; Seleksi</a:t>
            </a:r>
            <a:endParaRPr lang="en-US" sz="110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5195E494-0DEA-FCDE-DCBE-6A27E37031EB}"/>
              </a:ext>
            </a:extLst>
          </p:cNvPr>
          <p:cNvSpPr/>
          <p:nvPr/>
        </p:nvSpPr>
        <p:spPr>
          <a:xfrm>
            <a:off x="9317736" y="1984248"/>
            <a:ext cx="18562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 dihitung per model pada VALIDATION set untuk mencari threshold pemaksimal F1-score. Model dengan ROC-AUC tertinggi (di validation) dipilih sebagai model final; test set baru dipakai sekali di slide berikutnya.</a:t>
            </a:r>
            <a:endParaRPr lang="en-US" sz="83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FA22B77B-1513-EF6D-F04F-7F557CAD9BC9}"/>
              </a:ext>
            </a:extLst>
          </p:cNvPr>
          <p:cNvSpPr/>
          <p:nvPr/>
        </p:nvSpPr>
        <p:spPr>
          <a:xfrm>
            <a:off x="502920" y="345643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Preprocessing (ColumnTransformer)</a:t>
            </a:r>
            <a:endParaRPr lang="en-US" sz="1150" dirty="0"/>
          </a:p>
        </p:txBody>
      </p:sp>
      <p:graphicFrame>
        <p:nvGraphicFramePr>
          <p:cNvPr id="42" name="Table 0">
            <a:extLst>
              <a:ext uri="{FF2B5EF4-FFF2-40B4-BE49-F238E27FC236}">
                <a16:creationId xmlns:a16="http://schemas.microsoft.com/office/drawing/2014/main" id="{94FD59E9-7A7F-3C51-0C8D-8FA8FE1BC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534310"/>
              </p:ext>
            </p:extLst>
          </p:nvPr>
        </p:nvGraphicFramePr>
        <p:xfrm>
          <a:off x="502920" y="3767328"/>
          <a:ext cx="6309360" cy="153619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Jalur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 Fitur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Imputasi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Transformasi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Numerik (9 fitur)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DP_sum, Cicilan_to_OTR_Ratio, Estimasi_Kredit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 kardinalitas rendah (6 fitur)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Age_Group, Is_Credit, Short_Tenor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 kardinalitas tinggi (6 fitur)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Finance_Company, wilayah, dealer, segment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Konstan ("UNKNOWN")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Encoding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Text 27">
            <a:extLst>
              <a:ext uri="{FF2B5EF4-FFF2-40B4-BE49-F238E27FC236}">
                <a16:creationId xmlns:a16="http://schemas.microsoft.com/office/drawing/2014/main" id="{4934A928-2884-F615-22FE-EB76B44D9E94}"/>
              </a:ext>
            </a:extLst>
          </p:cNvPr>
          <p:cNvSpPr/>
          <p:nvPr/>
        </p:nvSpPr>
        <p:spPr>
          <a:xfrm>
            <a:off x="502920" y="541324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 kandidat diuji dengan grid parameter masing-masing (mis. n_estimators, learning_rate/max_iter, max_depth; khusus XGBoost ditambah scale_pos_weight, subsample, colsample_bytree) melalui RandomizedSearchCV.</a:t>
            </a:r>
            <a:endParaRPr lang="en-US" sz="90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D07818F6-9EBF-A27E-5BAA-AAC4DE1544F3}"/>
              </a:ext>
            </a:extLst>
          </p:cNvPr>
          <p:cNvSpPr/>
          <p:nvPr/>
        </p:nvSpPr>
        <p:spPr>
          <a:xfrm>
            <a:off x="6995160" y="34564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Komparasi Model (Validation Set)</a:t>
            </a:r>
            <a:endParaRPr lang="en-US" sz="1150" dirty="0"/>
          </a:p>
        </p:txBody>
      </p:sp>
      <p:graphicFrame>
        <p:nvGraphicFramePr>
          <p:cNvPr id="45" name="Table 1">
            <a:extLst>
              <a:ext uri="{FF2B5EF4-FFF2-40B4-BE49-F238E27FC236}">
                <a16:creationId xmlns:a16="http://schemas.microsoft.com/office/drawing/2014/main" id="{43EED52A-50C7-C910-01CD-48F35327E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72573"/>
              </p:ext>
            </p:extLst>
          </p:nvPr>
        </p:nvGraphicFramePr>
        <p:xfrm>
          <a:off x="6995160" y="3767328"/>
          <a:ext cx="4709160" cy="19202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7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Classifier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7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Text 29">
            <a:extLst>
              <a:ext uri="{FF2B5EF4-FFF2-40B4-BE49-F238E27FC236}">
                <a16:creationId xmlns:a16="http://schemas.microsoft.com/office/drawing/2014/main" id="{9FB8275B-FFE5-FB1E-2186-C3E9154DDC25}"/>
              </a:ext>
            </a:extLst>
          </p:cNvPr>
          <p:cNvSpPr/>
          <p:nvPr/>
        </p:nvSpPr>
        <p:spPr>
          <a:xfrm>
            <a:off x="6995160" y="577900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 model berkinerja berdekatan (ROC-AUC ~0,71) di validation set — batas informasi dari fitur yang tersedia sudah mendekati optimal. XGBoost Classifier dipilih karena unggul tipis pada ROC-AUC.</a:t>
            </a:r>
            <a:endParaRPr lang="en-US" sz="900" dirty="0"/>
          </a:p>
        </p:txBody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7A64EB2E-1872-60CE-35F1-8A48B34FF7A3}"/>
              </a:ext>
            </a:extLst>
          </p:cNvPr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Hasil eksperimen model — RandomizedSearchCV (n_iter=10, cv=5), evaluasi pada validation set (n=53.284)</a:t>
            </a:r>
            <a:endParaRPr lang="en-US" sz="850" dirty="0"/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CAC819F-B8BC-6AC6-E501-307E144197E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MODEL &amp; TRADE-OFF BISNIS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 </a:t>
            </a:r>
            <a:r>
              <a:rPr lang="en-ID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berhasil</a:t>
            </a:r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menangkap</a:t>
            </a:r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6 </a:t>
            </a:r>
            <a:r>
              <a:rPr lang="en-ID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dari</a:t>
            </a:r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10 </a:t>
            </a:r>
            <a:r>
              <a:rPr lang="en-ID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Pelanggan</a:t>
            </a:r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yang </a:t>
            </a:r>
            <a:r>
              <a:rPr lang="en-ID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potensial</a:t>
            </a:r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melakukan</a:t>
            </a:r>
            <a:r>
              <a:rPr lang="en-ID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repeat order </a:t>
            </a:r>
            <a:r>
              <a:rPr lang="en-US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dengan tradeoff </a:t>
            </a:r>
            <a:r>
              <a:rPr lang="en-US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akurasi</a:t>
            </a:r>
            <a:r>
              <a:rPr lang="en-US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prediksi</a:t>
            </a:r>
            <a:r>
              <a:rPr lang="en-US" sz="2600" b="1" dirty="0">
                <a:solidFill>
                  <a:srgbClr val="2B2D4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model</a:t>
            </a:r>
            <a:endParaRPr lang="en-US" sz="2600" b="1" dirty="0">
              <a:solidFill>
                <a:srgbClr val="2B2D4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42032" cy="141732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2359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 Classifier)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27832" y="1691640"/>
            <a:ext cx="2542032" cy="141732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3227832" y="1828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19272" y="2423160"/>
            <a:ext cx="2359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kelas RO</a:t>
            </a:r>
            <a:endParaRPr lang="en-US" sz="900" dirty="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(pelanggan RO teridentifikasi)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52744" y="1691640"/>
            <a:ext cx="2542032" cy="141732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1" name="Text 9"/>
          <p:cNvSpPr/>
          <p:nvPr/>
        </p:nvSpPr>
        <p:spPr>
          <a:xfrm>
            <a:off x="5952744" y="1828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44184" y="2423160"/>
            <a:ext cx="2359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kelas RO</a:t>
            </a:r>
            <a:endParaRPr lang="en-US" sz="900" dirty="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diprediksi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77656" y="1691640"/>
            <a:ext cx="2542032" cy="141732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8677656" y="18288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69096" y="2423160"/>
            <a:ext cx="2359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keseluruhan</a:t>
            </a:r>
            <a:endParaRPr lang="en-US" sz="900" dirty="0"/>
          </a:p>
          <a:p>
            <a:pPr marL="0" indent="0" algn="ctr">
              <a:lnSpc>
                <a:spcPts val="11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data uji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959" y="417130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(Threshold 0,55)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190274"/>
              </p:ext>
            </p:extLst>
          </p:nvPr>
        </p:nvGraphicFramePr>
        <p:xfrm>
          <a:off x="502920" y="4513384"/>
          <a:ext cx="4657725" cy="1508760"/>
        </p:xfrm>
        <a:graphic>
          <a:graphicData uri="http://schemas.openxmlformats.org/drawingml/2006/table">
            <a:tbl>
              <a:tblPr/>
              <a:tblGrid>
                <a:gridCol w="118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Tidak 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Aktual: Tidak 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Aktual: 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41959" y="2738628"/>
            <a:ext cx="10911841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600"/>
              </a:lnSpc>
            </a:pPr>
            <a:r>
              <a:rPr lang="en-ID" sz="1200" dirty="0"/>
              <a:t>Model </a:t>
            </a:r>
            <a:r>
              <a:rPr lang="en-ID" sz="1200" dirty="0" err="1"/>
              <a:t>dioptimasi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mengamankan</a:t>
            </a:r>
            <a:r>
              <a:rPr lang="en-ID" sz="1200" dirty="0"/>
              <a:t> 62% (</a:t>
            </a:r>
            <a:r>
              <a:rPr lang="en-ID" sz="1200" i="1" dirty="0"/>
              <a:t>Recall</a:t>
            </a:r>
            <a:r>
              <a:rPr lang="en-ID" sz="1200" dirty="0"/>
              <a:t>)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seluruh</a:t>
            </a:r>
            <a:r>
              <a:rPr lang="en-ID" sz="1200" dirty="0"/>
              <a:t> </a:t>
            </a:r>
            <a:r>
              <a:rPr lang="en-ID" sz="1200" dirty="0" err="1"/>
              <a:t>potensi</a:t>
            </a:r>
            <a:r>
              <a:rPr lang="en-ID" sz="1200" dirty="0"/>
              <a:t> </a:t>
            </a:r>
            <a:r>
              <a:rPr lang="en-ID" sz="1200" i="1" dirty="0"/>
              <a:t>Repeat Order</a:t>
            </a:r>
            <a:r>
              <a:rPr lang="en-ID" sz="1200" dirty="0"/>
              <a:t>, </a:t>
            </a:r>
            <a:r>
              <a:rPr lang="en-ID" sz="1200" dirty="0" err="1"/>
              <a:t>memastikan</a:t>
            </a:r>
            <a:r>
              <a:rPr lang="en-ID" sz="1200" dirty="0"/>
              <a:t> </a:t>
            </a:r>
            <a:r>
              <a:rPr lang="en-ID" sz="1200" dirty="0" err="1"/>
              <a:t>mayoritas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loyal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dipantau</a:t>
            </a:r>
            <a:r>
              <a:rPr lang="en-ID" sz="1200" dirty="0"/>
              <a:t> oleh </a:t>
            </a:r>
            <a:r>
              <a:rPr lang="en-ID" sz="1200" dirty="0" err="1"/>
              <a:t>tim</a:t>
            </a:r>
            <a:r>
              <a:rPr lang="en-ID" sz="1200" dirty="0"/>
              <a:t> marketing </a:t>
            </a:r>
            <a:r>
              <a:rPr lang="en-ID" sz="1200" dirty="0" err="1"/>
              <a:t>sebelum</a:t>
            </a:r>
            <a:r>
              <a:rPr lang="en-ID" sz="1200" dirty="0"/>
              <a:t> </a:t>
            </a:r>
            <a:r>
              <a:rPr lang="en-ID" sz="1200" dirty="0" err="1"/>
              <a:t>beralih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kompetitor</a:t>
            </a:r>
            <a:r>
              <a:rPr lang="en-ID" sz="1200" dirty="0"/>
              <a:t>. </a:t>
            </a:r>
            <a:r>
              <a:rPr lang="en-ID" sz="1200" dirty="0" err="1"/>
              <a:t>Pemilihan</a:t>
            </a:r>
            <a:r>
              <a:rPr lang="en-ID" sz="1200" dirty="0"/>
              <a:t> </a:t>
            </a:r>
            <a:r>
              <a:rPr lang="en-ID" sz="1200" i="1" dirty="0"/>
              <a:t>threshold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sadar</a:t>
            </a:r>
            <a:r>
              <a:rPr lang="en-ID" sz="1200" dirty="0"/>
              <a:t> </a:t>
            </a:r>
            <a:r>
              <a:rPr lang="en-ID" sz="1200" dirty="0" err="1"/>
              <a:t>menurunkan</a:t>
            </a:r>
            <a:r>
              <a:rPr lang="en-ID" sz="1200" dirty="0"/>
              <a:t> </a:t>
            </a:r>
            <a:r>
              <a:rPr lang="en-ID" sz="1200" i="1" dirty="0"/>
              <a:t>Precision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angka</a:t>
            </a:r>
            <a:r>
              <a:rPr lang="en-ID" sz="1200" dirty="0"/>
              <a:t> 22%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sebuah</a:t>
            </a:r>
            <a:r>
              <a:rPr lang="en-ID" sz="1200" dirty="0"/>
              <a:t> </a:t>
            </a:r>
            <a:r>
              <a:rPr lang="en-ID" sz="1200" i="1" dirty="0"/>
              <a:t>trade-off</a:t>
            </a:r>
            <a:r>
              <a:rPr lang="en-ID" sz="1200" dirty="0"/>
              <a:t>.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kampanye</a:t>
            </a:r>
            <a:r>
              <a:rPr lang="en-ID" sz="1200" dirty="0"/>
              <a:t> </a:t>
            </a:r>
            <a:r>
              <a:rPr lang="en-ID" sz="1200" dirty="0" err="1"/>
              <a:t>retensi</a:t>
            </a:r>
            <a:r>
              <a:rPr lang="en-ID" sz="1200" dirty="0"/>
              <a:t> </a:t>
            </a:r>
            <a:r>
              <a:rPr lang="en-ID" sz="1200" dirty="0" err="1"/>
              <a:t>berbiaya</a:t>
            </a:r>
            <a:r>
              <a:rPr lang="en-ID" sz="1200" dirty="0"/>
              <a:t> </a:t>
            </a:r>
            <a:r>
              <a:rPr lang="en-ID" sz="1200" dirty="0" err="1"/>
              <a:t>toleransi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salah </a:t>
            </a:r>
            <a:r>
              <a:rPr lang="en-ID" sz="1200" dirty="0" err="1"/>
              <a:t>sasaran</a:t>
            </a:r>
            <a:r>
              <a:rPr lang="en-ID" sz="1200" dirty="0"/>
              <a:t> (</a:t>
            </a:r>
            <a:r>
              <a:rPr lang="en-ID" sz="1200" i="1" dirty="0"/>
              <a:t>False Positive</a:t>
            </a:r>
            <a:r>
              <a:rPr lang="en-ID" sz="1200" dirty="0"/>
              <a:t>) </a:t>
            </a:r>
            <a:r>
              <a:rPr lang="en-ID" sz="1200" dirty="0" err="1"/>
              <a:t>jauh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diterima</a:t>
            </a:r>
            <a:r>
              <a:rPr lang="en-ID" sz="1200" dirty="0"/>
              <a:t> </a:t>
            </a:r>
            <a:r>
              <a:rPr lang="en-ID" sz="1200" dirty="0" err="1"/>
              <a:t>dibandingkan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kehilangan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 </a:t>
            </a:r>
            <a:r>
              <a:rPr lang="en-ID" sz="1200" dirty="0" err="1"/>
              <a:t>bernilai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akibat</a:t>
            </a:r>
            <a:r>
              <a:rPr lang="en-ID" sz="1200" dirty="0"/>
              <a:t>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mendapatkan</a:t>
            </a:r>
            <a:r>
              <a:rPr lang="en-ID" sz="1200" dirty="0"/>
              <a:t> </a:t>
            </a:r>
            <a:r>
              <a:rPr lang="en-ID" sz="1200" i="1" dirty="0"/>
              <a:t>follow-up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16439" y="4394513"/>
            <a:ext cx="5440680" cy="1737360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21" name="Text 18"/>
          <p:cNvSpPr/>
          <p:nvPr/>
        </p:nvSpPr>
        <p:spPr>
          <a:xfrm>
            <a:off x="6245039" y="4687121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Threshold Operasional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245039" y="4824281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0,55 mengoptimalkan F1-score pada validation set, namun tim bisnis dapat menurunkan threshold lebih lanjut untuk kampanye retensi bervolume tinggi &amp; berbiaya rendah, atau menaikkannya untuk pendekatan bernilai tinggi (mis. penawaran unit baru personal oleh sales).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Hasil evaluasi model final (XGBoost Classifier) pada test set (n=26.643, disentuh satu kali)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A300BC59-3E80-AA0A-75FD-41A64127D323}"/>
              </a:ext>
            </a:extLst>
          </p:cNvPr>
          <p:cNvSpPr/>
          <p:nvPr/>
        </p:nvSpPr>
        <p:spPr>
          <a:xfrm>
            <a:off x="458724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1D72D7CA-227F-89B7-B9C5-720BCBAFD658}"/>
              </a:ext>
            </a:extLst>
          </p:cNvPr>
          <p:cNvSpPr/>
          <p:nvPr/>
        </p:nvSpPr>
        <p:spPr>
          <a:xfrm>
            <a:off x="458724" y="4572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Cicilan_to_OTR_Ratio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sebagai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variable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krusial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repeat order — </a:t>
            </a:r>
            <a:r>
              <a:rPr lang="en-US" sz="2600" b="1" dirty="0" err="1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menyumbang</a:t>
            </a: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62% dari Permutation Importance model (XGBoost)</a:t>
            </a:r>
            <a:endParaRPr lang="en-US" sz="26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3879D6D-7883-F845-1BE4-D9BF9C72350E}"/>
              </a:ext>
            </a:extLst>
          </p:cNvPr>
          <p:cNvSpPr/>
          <p:nvPr/>
        </p:nvSpPr>
        <p:spPr>
          <a:xfrm>
            <a:off x="504444" y="1463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Kontributor Sekunder (setelah Cicilan_to_OTR_Ratio)</a:t>
            </a:r>
            <a:endParaRPr lang="en-US" sz="1150" dirty="0"/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9E29171-A270-8B1C-AE2A-46940C760DE9}"/>
              </a:ext>
            </a:extLst>
          </p:cNvPr>
          <p:cNvGraphicFramePr/>
          <p:nvPr/>
        </p:nvGraphicFramePr>
        <p:xfrm>
          <a:off x="504444" y="1755648"/>
          <a:ext cx="60350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3">
            <a:extLst>
              <a:ext uri="{FF2B5EF4-FFF2-40B4-BE49-F238E27FC236}">
                <a16:creationId xmlns:a16="http://schemas.microsoft.com/office/drawing/2014/main" id="{2F972DE5-CB14-A705-6CE3-FDEE6943EF66}"/>
              </a:ext>
            </a:extLst>
          </p:cNvPr>
          <p:cNvSpPr/>
          <p:nvPr/>
        </p:nvSpPr>
        <p:spPr>
          <a:xfrm>
            <a:off x="504444" y="3749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3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Persentase = kontribusi tiap fitur terhadap total Permutation Importance positif (XGBoost Classifier, n_repeats=5).</a:t>
            </a:r>
            <a:endParaRPr lang="en-US" sz="83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794A8B99-3B0A-484D-E5F4-127836F5DD28}"/>
              </a:ext>
            </a:extLst>
          </p:cNvPr>
          <p:cNvSpPr/>
          <p:nvPr/>
        </p:nvSpPr>
        <p:spPr>
          <a:xfrm>
            <a:off x="6768084" y="14630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Komposisi Sinyal Prediktif per Kategori Fitur</a:t>
            </a:r>
            <a:endParaRPr lang="en-US" sz="115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FDFB03C6-90C5-6EE9-EB8C-94DA727C44CC}"/>
              </a:ext>
            </a:extLst>
          </p:cNvPr>
          <p:cNvSpPr/>
          <p:nvPr/>
        </p:nvSpPr>
        <p:spPr>
          <a:xfrm>
            <a:off x="6768084" y="1783080"/>
            <a:ext cx="2767911" cy="365760"/>
          </a:xfrm>
          <a:prstGeom prst="rect">
            <a:avLst/>
          </a:prstGeom>
          <a:solidFill>
            <a:srgbClr val="1F7A6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7BAEA942-7714-2DB8-EA36-7C3DE74C7915}"/>
              </a:ext>
            </a:extLst>
          </p:cNvPr>
          <p:cNvSpPr/>
          <p:nvPr/>
        </p:nvSpPr>
        <p:spPr>
          <a:xfrm>
            <a:off x="9535995" y="1783080"/>
            <a:ext cx="1383955" cy="365760"/>
          </a:xfrm>
          <a:prstGeom prst="rect">
            <a:avLst/>
          </a:prstGeom>
          <a:solidFill>
            <a:srgbClr val="E27D6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79E96211-AFA4-FAC8-6311-CB27AA543439}"/>
              </a:ext>
            </a:extLst>
          </p:cNvPr>
          <p:cNvSpPr/>
          <p:nvPr/>
        </p:nvSpPr>
        <p:spPr>
          <a:xfrm>
            <a:off x="10919950" y="1783080"/>
            <a:ext cx="790832" cy="365760"/>
          </a:xfrm>
          <a:prstGeom prst="rect">
            <a:avLst/>
          </a:prstGeom>
          <a:solidFill>
            <a:srgbClr val="2B2D4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EE383B69-C4D8-4D57-1B8E-5504620876C3}"/>
              </a:ext>
            </a:extLst>
          </p:cNvPr>
          <p:cNvSpPr/>
          <p:nvPr/>
        </p:nvSpPr>
        <p:spPr>
          <a:xfrm>
            <a:off x="6768084" y="2313432"/>
            <a:ext cx="118872" cy="118872"/>
          </a:xfrm>
          <a:prstGeom prst="rect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22DA4F25-0B80-5271-5207-90B2C38B4365}"/>
              </a:ext>
            </a:extLst>
          </p:cNvPr>
          <p:cNvSpPr/>
          <p:nvPr/>
        </p:nvSpPr>
        <p:spPr>
          <a:xfrm>
            <a:off x="6969252" y="22402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Finansial (Cicilan/Kredit)  —  56%</a:t>
            </a:r>
            <a:endParaRPr lang="en-US" sz="95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783B5C88-ECA8-899E-5043-476B1325F797}"/>
              </a:ext>
            </a:extLst>
          </p:cNvPr>
          <p:cNvSpPr/>
          <p:nvPr/>
        </p:nvSpPr>
        <p:spPr>
          <a:xfrm>
            <a:off x="6768084" y="2606040"/>
            <a:ext cx="118872" cy="118872"/>
          </a:xfrm>
          <a:prstGeom prst="rect">
            <a:avLst/>
          </a:prstGeom>
          <a:solidFill>
            <a:srgbClr val="E27D6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D908DA4-0D63-B54B-E45B-B4A8408EF709}"/>
              </a:ext>
            </a:extLst>
          </p:cNvPr>
          <p:cNvSpPr/>
          <p:nvPr/>
        </p:nvSpPr>
        <p:spPr>
          <a:xfrm>
            <a:off x="6969252" y="253288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 (Produk/Mitra)  —  28%</a:t>
            </a:r>
            <a:endParaRPr lang="en-US" sz="95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3626F248-C430-2706-633B-51BED6F877E9}"/>
              </a:ext>
            </a:extLst>
          </p:cNvPr>
          <p:cNvSpPr/>
          <p:nvPr/>
        </p:nvSpPr>
        <p:spPr>
          <a:xfrm>
            <a:off x="6768084" y="2898648"/>
            <a:ext cx="118872" cy="118872"/>
          </a:xfrm>
          <a:prstGeom prst="rect">
            <a:avLst/>
          </a:prstGeom>
          <a:solidFill>
            <a:srgbClr val="2B2D4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B8DED71-EA17-08AA-14DC-BED8BE133306}"/>
              </a:ext>
            </a:extLst>
          </p:cNvPr>
          <p:cNvSpPr/>
          <p:nvPr/>
        </p:nvSpPr>
        <p:spPr>
          <a:xfrm>
            <a:off x="6969252" y="282549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 (Usia)  —  16%</a:t>
            </a:r>
            <a:endParaRPr lang="en-US" sz="95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79D73FAA-E9BF-9D86-B5EE-A33941F143DE}"/>
              </a:ext>
            </a:extLst>
          </p:cNvPr>
          <p:cNvSpPr/>
          <p:nvPr/>
        </p:nvSpPr>
        <p:spPr>
          <a:xfrm>
            <a:off x="504444" y="4133088"/>
            <a:ext cx="11201400" cy="1993392"/>
          </a:xfrm>
          <a:prstGeom prst="rect">
            <a:avLst/>
          </a:prstGeom>
          <a:solidFill>
            <a:srgbClr val="2B2D42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A18F9933-F30E-ACD9-748F-726E277908DE}"/>
              </a:ext>
            </a:extLst>
          </p:cNvPr>
          <p:cNvSpPr/>
          <p:nvPr/>
        </p:nvSpPr>
        <p:spPr>
          <a:xfrm>
            <a:off x="778764" y="4489704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40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996FAFB6-7E87-E560-CFCF-BF1764CB64C3}"/>
              </a:ext>
            </a:extLst>
          </p:cNvPr>
          <p:cNvSpPr/>
          <p:nvPr/>
        </p:nvSpPr>
        <p:spPr>
          <a:xfrm>
            <a:off x="778764" y="523036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total Permutation Importance</a:t>
            </a:r>
            <a:endParaRPr lang="en-US" sz="98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8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disumbang oleh satu fitur: Cicilan_to_OTR_Ratio</a:t>
            </a:r>
            <a:endParaRPr lang="en-US" sz="980" dirty="0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E33572E7-FF67-F1A7-7551-46DAF54CB25F}"/>
              </a:ext>
            </a:extLst>
          </p:cNvPr>
          <p:cNvSpPr/>
          <p:nvPr/>
        </p:nvSpPr>
        <p:spPr>
          <a:xfrm>
            <a:off x="3796284" y="4352544"/>
            <a:ext cx="0" cy="1600200"/>
          </a:xfrm>
          <a:prstGeom prst="line">
            <a:avLst/>
          </a:prstGeom>
          <a:noFill/>
          <a:ln w="12700">
            <a:solidFill>
              <a:srgbClr val="3A3D52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BCE6EF5D-9F70-B624-AF60-C0EB61D4813C}"/>
              </a:ext>
            </a:extLst>
          </p:cNvPr>
          <p:cNvSpPr/>
          <p:nvPr/>
        </p:nvSpPr>
        <p:spPr>
          <a:xfrm>
            <a:off x="4024884" y="4229100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0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 bisnis: kapasitas finansial adalah sinyal paling kuat — pelanggan dengan rasio cicilan lebih sehat terhadap OTR punya ruang finansial lebih besar untuk repeat order. Recency_Days (durasi sejak transaksi pertama) awalnya tampak dominan namun terbukti sebagai proksi censoring (r=-1,0 terhadap tanggal akuisisi, AUC 0,70 dari 1 fitur saja) dan kini dianalisis terpisah lewat Survival Analysis.</a:t>
            </a:r>
            <a:endParaRPr lang="en-US" sz="1020" dirty="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5911BFFD-3866-BC15-5853-257EC6D1CD76}"/>
              </a:ext>
            </a:extLst>
          </p:cNvPr>
          <p:cNvSpPr/>
          <p:nvPr/>
        </p:nvSpPr>
        <p:spPr>
          <a:xfrm>
            <a:off x="4024884" y="4965192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E2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50" dirty="0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0235BD96-430F-A4E2-5FC2-6056C9C78C75}"/>
              </a:ext>
            </a:extLst>
          </p:cNvPr>
          <p:cNvSpPr/>
          <p:nvPr/>
        </p:nvSpPr>
        <p:spPr>
          <a:xfrm>
            <a:off x="4280916" y="4946904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Cicilan_to_OTR_Ratio  </a:t>
            </a:r>
            <a:r>
              <a:rPr lang="en-US" sz="98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rasio cicilan lebih tinggi terhadap OTR mendorong prediksi ke arah repeat order (SHAP &amp; Permutation Importance tertinggi)</a:t>
            </a:r>
            <a:endParaRPr lang="en-US" sz="980" dirty="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004D364D-A690-419C-F14E-683AE571E428}"/>
              </a:ext>
            </a:extLst>
          </p:cNvPr>
          <p:cNvSpPr/>
          <p:nvPr/>
        </p:nvSpPr>
        <p:spPr>
          <a:xfrm>
            <a:off x="4024884" y="5266944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E2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5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4B5C0CAA-AFCE-D879-16DB-FE64135C4981}"/>
              </a:ext>
            </a:extLst>
          </p:cNvPr>
          <p:cNvSpPr/>
          <p:nvPr/>
        </p:nvSpPr>
        <p:spPr>
          <a:xfrm>
            <a:off x="4280916" y="5248656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Finansial (DP)  </a:t>
            </a:r>
            <a:r>
              <a:rPr lang="en-US" sz="98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DP di muka lebih besar mendorong prediksi ke arah pelanggan loyal</a:t>
            </a:r>
            <a:endParaRPr lang="en-US" sz="980" dirty="0"/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9D30451B-D7EB-0405-DF8F-E8856C6240CC}"/>
              </a:ext>
            </a:extLst>
          </p:cNvPr>
          <p:cNvSpPr/>
          <p:nvPr/>
        </p:nvSpPr>
        <p:spPr>
          <a:xfrm>
            <a:off x="4024884" y="5550408"/>
            <a:ext cx="22860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E27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50" dirty="0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D4985586-EAD5-D760-294D-60823BFB9E13}"/>
              </a:ext>
            </a:extLst>
          </p:cNvPr>
          <p:cNvSpPr/>
          <p:nvPr/>
        </p:nvSpPr>
        <p:spPr>
          <a:xfrm>
            <a:off x="4280916" y="5550408"/>
            <a:ext cx="7178040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Jml_Unit (Multi-Unit)  </a:t>
            </a:r>
            <a:r>
              <a:rPr lang="en-US" sz="98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pembelian &gt;1 unit di hari pertama meningkatkan probabilitas RO</a:t>
            </a:r>
            <a:endParaRPr lang="en-US" sz="980" dirty="0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E06CFC21-3FB8-8929-5B0E-5959F9BD98CA}"/>
              </a:ext>
            </a:extLst>
          </p:cNvPr>
          <p:cNvSpPr/>
          <p:nvPr/>
        </p:nvSpPr>
        <p:spPr>
          <a:xfrm>
            <a:off x="458724" y="63825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Permutation Importance (n_repeats=5) &amp; SHAP TreeExplainer pada model final (XGBoost Classifier), test set n=26.643. Recency_Days dikeluarkan dari fitur (proksi censoring — lihat metodologi).</a:t>
            </a:r>
            <a:endParaRPr lang="en-US" sz="850" dirty="0"/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4BDF6B84-35CB-9453-2CC0-2000473DBAFB}"/>
              </a:ext>
            </a:extLst>
          </p:cNvPr>
          <p:cNvSpPr/>
          <p:nvPr/>
        </p:nvSpPr>
        <p:spPr>
          <a:xfrm>
            <a:off x="11276076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STRATEGIS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area aksi untuk mengonversi insight menjadi peningkatan Repeat Order rate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596896" cy="3136392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03120"/>
            <a:ext cx="365760" cy="36576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Follow-Up Bertahap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386585"/>
            <a:ext cx="2258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Kampanye konversi intensif pada 365 hari pertama ("Golden Window"), dilanjutkan program pemeliharaan hubungan berkala hingga tahun kedua (median 700 hari).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920240"/>
            <a:ext cx="2596896" cy="3136392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2103120"/>
            <a:ext cx="365760" cy="36576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26060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Berbasis Skor 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47288" y="2386585"/>
            <a:ext cx="2258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skor probabilitas RO dari model (top decile: lift 2,08x) untuk memprioritaskan follow-up — fokus pada nasabah kredit, tenor pendek, dan DP tinggi.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5896" y="1920240"/>
            <a:ext cx="2596896" cy="3136392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08776" y="2103120"/>
            <a:ext cx="365760" cy="36576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26060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Penawaran Berbasis Segmen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2386585"/>
            <a:ext cx="2258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penawaran upgrade/unit tambahan khusus untuk segmen Sport/Cub (non-matic) dan nasabah usia 36–45 tahun yang terbukti paling loyal.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87384" y="1920240"/>
            <a:ext cx="2596896" cy="3136392"/>
          </a:xfrm>
          <a:prstGeom prst="rect">
            <a:avLst/>
          </a:prstGeom>
          <a:solidFill>
            <a:srgbClr val="F6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970264" y="2103120"/>
            <a:ext cx="365760" cy="36576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21" name="Text 19"/>
          <p:cNvSpPr/>
          <p:nvPr/>
        </p:nvSpPr>
        <p:spPr>
          <a:xfrm>
            <a:off x="8970264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70264" y="2606040"/>
            <a:ext cx="2258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Wilayah &amp; Mitra Pembiayaan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70264" y="2386585"/>
            <a:ext cx="22585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akar penyebab retensi rendah di wilayah 6472/6503 dan evaluasi skema cicilan mitra pembiayaan berperforma rendah (FC 4, FC 5).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Sintesis temuan EDA, uji statistik, feature importance model final (XGBoost), dan Survival Analysis (Kaplan-Meier &amp; Cox PH)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2762</Words>
  <Application>Microsoft Office PowerPoint</Application>
  <PresentationFormat>Widescreen</PresentationFormat>
  <Paragraphs>306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hillal hariyono</cp:lastModifiedBy>
  <cp:revision>4</cp:revision>
  <dcterms:created xsi:type="dcterms:W3CDTF">2026-07-14T04:48:06Z</dcterms:created>
  <dcterms:modified xsi:type="dcterms:W3CDTF">2026-07-15T08:40:06Z</dcterms:modified>
</cp:coreProperties>
</file>